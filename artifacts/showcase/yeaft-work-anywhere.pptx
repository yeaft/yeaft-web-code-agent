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0–10s | Suggested English narration
Work from anywhere. With Yeaft, your location can change without leaving the work behind. Connect to your AI team through a browser.
中文讲述提示与事实边界
定位从 phone-first 改为随处工作。用户不必守在原来的设备前；不暗示执行环境会跨 Agent 自动迁移。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10–23s | Suggested English narration
At home, at the office, or on the move, reconnect to the same Agent and Session. The browser is your entry point; your online Agent provides the working environment.
中文讲述提示与事实边界
桌面与移动布局来自既有隔离 staged UI 截图，不是新完成的跨设备实测。相同 Agent + Session 可从不同浏览器访问；Server 可达、Agent 在线是前提。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23–40s | Suggested English narration
Bring in the right role for the next step. An investigator finds the cause, an implementer makes the change, and a reviewer challenges it. Explicit handoffs carry the task forward—not a fixed pipeline.
中文讲述提示与事实边界
VP = Virtual Person。一个 Session 有 1..N 个 VP。Investigate → Implement → Review 是交接示意；显式 VP 转发使用路由工具，不是普通文本写 @ 就执行。左侧真实 UI 截图展示配置角色，不是此开发案例的交接证据。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40–52s | Suggested English narration
Define each role with configurable system prompts. Add shared project rules, so responsibilities, coding conventions, and review expectations travel with the work.
中文讲述提示与事实边界
示例 System Prompt 不是 UI 截图，也不是强制安全策略。VP persona、Project instruction、仓库规则是不同层，指令不能替代权限和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52–67s | Suggested English narration
Go beyond chat with Workbench. Inspect the actual files, check command output, and stay close to what the Agent is doing. Delegate the work without losing visibility.
中文讲述提示与事实边界
Files / Terminal 截图沿用真实 Vue 组件与 staged transport。终端只回放实际 node --check 结果，不是 bug 修复或完整回归测试证明。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67–84s | Suggested English narration
For development automation, give AI a goal, constraints, and acceptance criteria. For example: fix a bug, add a regression test, and prepare a patch for review—not a script of step-by-step prompts.
中文讲述提示与事实边界
建议的开发场景，不是已完成案例。任务拆解由目标决定，不强制固定流水线。不默认允许部署；Session 与 Work Center 是不同对象，不声称自动转换。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84–102s | Suggested English narration
Work Center keeps the goal, execution progress, and evidence visible. Let ready work advance on the online Agent. Step in for decisions and judge completion against the acceptance criteria. Work Center is currently in Preview.
中文讲述提示与事实边界
Work Center 保留 Preview。持久目标不意味着 Agent 离线可执行；恢复和重试受副作用安全约束。完成需要验收与证据，不等于模型停止输出。Work Center VP 选择独立于 Session 成员。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102–110s | Suggested English narration
Anywhere access. Clear responsibilities. Real tools. Goal-driven execution. Yeaft. Your AI team. Real work. From anywhere.
中文讲述提示与事实边界
收束到随处接入、角色协作和目标执行，不重复整套功能清单。仓库链接指向 README；不暗示已经自动部署或发布。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DITORIAL">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621792" y="274320"/>
            <a:ext cx="1371600" cy="201168"/>
          </a:xfrm>
          <a:prstGeom prst="rect">
            <a:avLst/>
          </a:prstGeom>
          <a:noFill/>
          <a:ln/>
        </p:spPr>
        <p:txBody>
          <a:bodyPr wrap="square" lIns="0" tIns="0" rIns="0" bIns="0" rtlCol="0" anchor="ctr"/>
          <a:lstStyle/>
          <a:p>
            <a:pPr indent="0" marL="0">
              <a:buNone/>
            </a:pPr>
            <a:r>
              <a:rPr lang="en-US" sz="1000" b="1" spc="200" kern="0" dirty="0">
                <a:solidFill>
                  <a:srgbClr val="1D1D1B"/>
                </a:solidFill>
              </a:rPr>
              <a:t>YEAFT</a:t>
            </a:r>
            <a:endParaRPr lang="en-US" sz="10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yeaft/yeaft-web-code-agent#readme"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67512" y="1078992"/>
            <a:ext cx="10789920" cy="274320"/>
          </a:xfrm>
          <a:prstGeom prst="rect">
            <a:avLst/>
          </a:prstGeom>
          <a:noFill/>
          <a:ln/>
        </p:spPr>
        <p:txBody>
          <a:bodyPr wrap="square" lIns="0" tIns="0" rIns="0" bIns="0" rtlCol="0" anchor="ctr"/>
          <a:lstStyle/>
          <a:p>
            <a:pPr indent="0" marL="0">
              <a:buNone/>
            </a:pPr>
            <a:r>
              <a:rPr lang="en-US" sz="1200" b="1" spc="120" kern="0" dirty="0">
                <a:solidFill>
                  <a:srgbClr val="8B5E3C"/>
                </a:solidFill>
              </a:rPr>
              <a:t>YOUR AI WORKSPACE, WHEREVER YOU ARE</a:t>
            </a:r>
            <a:endParaRPr lang="en-US" sz="1200" dirty="0"/>
          </a:p>
        </p:txBody>
      </p:sp>
      <p:sp>
        <p:nvSpPr>
          <p:cNvPr id="4" name="Text 1"/>
          <p:cNvSpPr/>
          <p:nvPr/>
        </p:nvSpPr>
        <p:spPr>
          <a:xfrm>
            <a:off x="640080" y="1828800"/>
            <a:ext cx="10789920" cy="1828800"/>
          </a:xfrm>
          <a:prstGeom prst="rect">
            <a:avLst/>
          </a:prstGeom>
          <a:noFill/>
          <a:ln/>
        </p:spPr>
        <p:txBody>
          <a:bodyPr wrap="square" lIns="0" tIns="0" rIns="0" bIns="0" rtlCol="0" anchor="ctr"/>
          <a:lstStyle/>
          <a:p>
            <a:pPr indent="0" marL="0">
              <a:buNone/>
            </a:pPr>
            <a:r>
              <a:rPr lang="en-US" sz="5800" b="1" dirty="0">
                <a:solidFill>
                  <a:srgbClr val="1D1D1B"/>
                </a:solidFill>
              </a:rPr>
              <a:t>Work from</a:t>
            </a:r>
            <a:endParaRPr lang="en-US" sz="5800" dirty="0"/>
          </a:p>
          <a:p>
            <a:pPr indent="0" marL="0">
              <a:buNone/>
            </a:pPr>
            <a:r>
              <a:rPr lang="en-US" sz="5800" b="1" dirty="0">
                <a:solidFill>
                  <a:srgbClr val="1D1D1B"/>
                </a:solidFill>
              </a:rPr>
              <a:t>anywhere.</a:t>
            </a:r>
            <a:endParaRPr lang="en-US" sz="5800" dirty="0"/>
          </a:p>
        </p:txBody>
      </p:sp>
      <p:sp>
        <p:nvSpPr>
          <p:cNvPr id="5" name="Text 2"/>
          <p:cNvSpPr/>
          <p:nvPr/>
        </p:nvSpPr>
        <p:spPr>
          <a:xfrm>
            <a:off x="694944" y="4251960"/>
            <a:ext cx="10515600" cy="960120"/>
          </a:xfrm>
          <a:prstGeom prst="rect">
            <a:avLst/>
          </a:prstGeom>
          <a:noFill/>
          <a:ln/>
        </p:spPr>
        <p:txBody>
          <a:bodyPr wrap="square" lIns="0" tIns="0" rIns="0" bIns="0" rtlCol="0" anchor="t"/>
          <a:lstStyle/>
          <a:p>
            <a:pPr indent="0" marL="0">
              <a:buNone/>
            </a:pPr>
            <a:r>
              <a:rPr lang="en-US" sz="2400" dirty="0">
                <a:solidFill>
                  <a:srgbClr val="686761"/>
                </a:solidFill>
              </a:rPr>
              <a:t>Your AI team. Your working environment.</a:t>
            </a:r>
            <a:endParaRPr lang="en-US" sz="2400" dirty="0"/>
          </a:p>
          <a:p>
            <a:pPr indent="0" marL="0">
              <a:buNone/>
            </a:pPr>
            <a:r>
              <a:rPr lang="en-US" sz="2400" dirty="0">
                <a:solidFill>
                  <a:srgbClr val="686761"/>
                </a:solidFill>
              </a:rPr>
              <a:t>Ready when you connect.</a:t>
            </a:r>
            <a:endParaRPr lang="en-US" sz="2400" dirty="0"/>
          </a:p>
        </p:txBody>
      </p:sp>
      <p:sp>
        <p:nvSpPr>
          <p:cNvPr id="6" name="Text 3"/>
          <p:cNvSpPr/>
          <p:nvPr/>
        </p:nvSpPr>
        <p:spPr>
          <a:xfrm>
            <a:off x="694944" y="5870448"/>
            <a:ext cx="10515600" cy="292608"/>
          </a:xfrm>
          <a:prstGeom prst="rect">
            <a:avLst/>
          </a:prstGeom>
          <a:noFill/>
          <a:ln/>
        </p:spPr>
        <p:txBody>
          <a:bodyPr wrap="square" lIns="0" tIns="0" rIns="0" bIns="0" rtlCol="0" anchor="ctr"/>
          <a:lstStyle/>
          <a:p>
            <a:pPr indent="0" marL="0">
              <a:buNone/>
            </a:pPr>
            <a:r>
              <a:rPr lang="en-US" sz="1300" dirty="0">
                <a:solidFill>
                  <a:srgbClr val="8B5E3C"/>
                </a:solidFill>
              </a:rPr>
              <a:t>ANYWHERE ACCESS   /   ROLE HANDOFFS   /   REAL WORK</a:t>
            </a:r>
            <a:endParaRPr lang="en-US" sz="13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40080" y="777240"/>
            <a:ext cx="10881360" cy="246888"/>
          </a:xfrm>
          <a:prstGeom prst="rect">
            <a:avLst/>
          </a:prstGeom>
          <a:noFill/>
          <a:ln/>
        </p:spPr>
        <p:txBody>
          <a:bodyPr wrap="square" lIns="0" tIns="0" rIns="0" bIns="0" rtlCol="0" anchor="ctr"/>
          <a:lstStyle/>
          <a:p>
            <a:pPr indent="0" marL="0">
              <a:buNone/>
            </a:pPr>
            <a:r>
              <a:rPr lang="en-US" sz="1100" b="1" spc="110" kern="0" dirty="0">
                <a:solidFill>
                  <a:srgbClr val="8B5E3C"/>
                </a:solidFill>
              </a:rPr>
              <a:t>ANYWHERE ACCESS</a:t>
            </a:r>
            <a:endParaRPr lang="en-US" sz="1100" dirty="0"/>
          </a:p>
        </p:txBody>
      </p:sp>
      <p:sp>
        <p:nvSpPr>
          <p:cNvPr id="4" name="Text 1"/>
          <p:cNvSpPr/>
          <p:nvPr/>
        </p:nvSpPr>
        <p:spPr>
          <a:xfrm>
            <a:off x="640080" y="1143000"/>
            <a:ext cx="10881360" cy="749808"/>
          </a:xfrm>
          <a:prstGeom prst="rect">
            <a:avLst/>
          </a:prstGeom>
          <a:noFill/>
          <a:ln/>
        </p:spPr>
        <p:txBody>
          <a:bodyPr wrap="square" lIns="0" tIns="0" rIns="0" bIns="0" rtlCol="0" anchor="ctr"/>
          <a:lstStyle/>
          <a:p>
            <a:pPr indent="0" marL="0">
              <a:buNone/>
            </a:pPr>
            <a:r>
              <a:rPr lang="en-US" sz="3000" b="1" dirty="0">
                <a:solidFill>
                  <a:srgbClr val="1D1D1B"/>
                </a:solidFill>
              </a:rPr>
              <a:t>Different devices. The same working context.</a:t>
            </a:r>
            <a:endParaRPr lang="en-US" sz="3000" dirty="0"/>
          </a:p>
        </p:txBody>
      </p:sp>
      <p:sp>
        <p:nvSpPr>
          <p:cNvPr id="5" name="Text 2"/>
          <p:cNvSpPr/>
          <p:nvPr/>
        </p:nvSpPr>
        <p:spPr>
          <a:xfrm>
            <a:off x="667512" y="1938528"/>
            <a:ext cx="10789920" cy="502920"/>
          </a:xfrm>
          <a:prstGeom prst="rect">
            <a:avLst/>
          </a:prstGeom>
          <a:noFill/>
          <a:ln/>
        </p:spPr>
        <p:txBody>
          <a:bodyPr wrap="square" lIns="0" tIns="0" rIns="0" bIns="0" rtlCol="0" anchor="t"/>
          <a:lstStyle/>
          <a:p>
            <a:pPr indent="0" marL="0">
              <a:buNone/>
            </a:pPr>
            <a:r>
              <a:rPr lang="en-US" sz="1500" dirty="0">
                <a:solidFill>
                  <a:srgbClr val="686761"/>
                </a:solidFill>
              </a:rPr>
              <a:t>At home. At the office. On the move. Reconnect to the same Agent + Session.</a:t>
            </a:r>
            <a:endParaRPr lang="en-US" sz="1500" dirty="0"/>
          </a:p>
        </p:txBody>
      </p:sp>
      <p:pic>
        <p:nvPicPr>
          <p:cNvPr id="6" name="Image 0" descr="/home/azureuser/projects/yeaft-web-code-agent/.yeaft/worktrees/showcase-work-anywhere/artifacts/showcase/work-anywhere-assets/04-session-conversation.png">    </p:cNvPr>
          <p:cNvPicPr>
            <a:picLocks noChangeAspect="1"/>
          </p:cNvPicPr>
          <p:nvPr/>
        </p:nvPicPr>
        <p:blipFill>
          <a:blip r:embed="rId1"/>
          <a:stretch>
            <a:fillRect/>
          </a:stretch>
        </p:blipFill>
        <p:spPr>
          <a:xfrm>
            <a:off x="878053" y="2715768"/>
            <a:ext cx="4132631" cy="3154680"/>
          </a:xfrm>
          <a:prstGeom prst="rect">
            <a:avLst/>
          </a:prstGeom>
        </p:spPr>
      </p:pic>
      <p:pic>
        <p:nvPicPr>
          <p:cNvPr id="7" name="Image 1" descr="/home/azureuser/projects/yeaft-web-code-agent/.yeaft/worktrees/showcase-work-anywhere/artifacts/showcase/work-anywhere-assets/04-session-mobile.png">    </p:cNvPr>
          <p:cNvPicPr>
            <a:picLocks noChangeAspect="1"/>
          </p:cNvPicPr>
          <p:nvPr/>
        </p:nvPicPr>
        <p:blipFill>
          <a:blip r:embed="rId2"/>
          <a:stretch>
            <a:fillRect/>
          </a:stretch>
        </p:blipFill>
        <p:spPr>
          <a:xfrm>
            <a:off x="5470766" y="2715768"/>
            <a:ext cx="1457731" cy="3154680"/>
          </a:xfrm>
          <a:prstGeom prst="rect">
            <a:avLst/>
          </a:prstGeom>
        </p:spPr>
      </p:pic>
      <p:sp>
        <p:nvSpPr>
          <p:cNvPr id="8" name="Text 3"/>
          <p:cNvSpPr/>
          <p:nvPr/>
        </p:nvSpPr>
        <p:spPr>
          <a:xfrm>
            <a:off x="7406640" y="2852928"/>
            <a:ext cx="3977640" cy="320040"/>
          </a:xfrm>
          <a:prstGeom prst="rect">
            <a:avLst/>
          </a:prstGeom>
          <a:noFill/>
          <a:ln/>
        </p:spPr>
        <p:txBody>
          <a:bodyPr wrap="square" lIns="0" tIns="0" rIns="0" bIns="0" rtlCol="0" anchor="ctr"/>
          <a:lstStyle/>
          <a:p>
            <a:pPr indent="0" marL="0">
              <a:buNone/>
            </a:pPr>
            <a:r>
              <a:rPr lang="en-US" sz="1200" b="1" dirty="0">
                <a:solidFill>
                  <a:srgbClr val="8B5E3C"/>
                </a:solidFill>
              </a:rPr>
              <a:t>BROWSER = ENTRY POINT</a:t>
            </a:r>
            <a:endParaRPr lang="en-US" sz="1200" dirty="0"/>
          </a:p>
        </p:txBody>
      </p:sp>
      <p:sp>
        <p:nvSpPr>
          <p:cNvPr id="9" name="Text 4"/>
          <p:cNvSpPr/>
          <p:nvPr/>
        </p:nvSpPr>
        <p:spPr>
          <a:xfrm>
            <a:off x="7406640" y="3337560"/>
            <a:ext cx="3931920" cy="896112"/>
          </a:xfrm>
          <a:prstGeom prst="rect">
            <a:avLst/>
          </a:prstGeom>
          <a:noFill/>
          <a:ln/>
        </p:spPr>
        <p:txBody>
          <a:bodyPr wrap="square" lIns="0" tIns="0" rIns="0" bIns="0" rtlCol="0" anchor="t"/>
          <a:lstStyle/>
          <a:p>
            <a:pPr indent="0" marL="0">
              <a:buNone/>
            </a:pPr>
            <a:r>
              <a:rPr lang="en-US" sz="2300" dirty="0">
                <a:solidFill>
                  <a:srgbClr val="686761"/>
                </a:solidFill>
              </a:rPr>
              <a:t>Choose the device</a:t>
            </a:r>
            <a:endParaRPr lang="en-US" sz="2300" dirty="0"/>
          </a:p>
          <a:p>
            <a:pPr indent="0" marL="0">
              <a:buNone/>
            </a:pPr>
            <a:r>
              <a:rPr lang="en-US" sz="2300" dirty="0">
                <a:solidFill>
                  <a:srgbClr val="686761"/>
                </a:solidFill>
              </a:rPr>
              <a:t>that works for you.</a:t>
            </a:r>
            <a:endParaRPr lang="en-US" sz="2300" dirty="0"/>
          </a:p>
        </p:txBody>
      </p:sp>
      <p:sp>
        <p:nvSpPr>
          <p:cNvPr id="10" name="Text 5"/>
          <p:cNvSpPr/>
          <p:nvPr/>
        </p:nvSpPr>
        <p:spPr>
          <a:xfrm>
            <a:off x="7406640" y="4608576"/>
            <a:ext cx="3977640" cy="320040"/>
          </a:xfrm>
          <a:prstGeom prst="rect">
            <a:avLst/>
          </a:prstGeom>
          <a:noFill/>
          <a:ln/>
        </p:spPr>
        <p:txBody>
          <a:bodyPr wrap="square" lIns="0" tIns="0" rIns="0" bIns="0" rtlCol="0" anchor="ctr"/>
          <a:lstStyle/>
          <a:p>
            <a:pPr indent="0" marL="0">
              <a:buNone/>
            </a:pPr>
            <a:r>
              <a:rPr lang="en-US" sz="1100" b="1" dirty="0">
                <a:solidFill>
                  <a:srgbClr val="8B5E3C"/>
                </a:solidFill>
              </a:rPr>
              <a:t>AGENT = WORKING ENVIRONMENT</a:t>
            </a:r>
            <a:endParaRPr lang="en-US" sz="1100" dirty="0"/>
          </a:p>
        </p:txBody>
      </p:sp>
      <p:sp>
        <p:nvSpPr>
          <p:cNvPr id="11" name="Text 6"/>
          <p:cNvSpPr/>
          <p:nvPr/>
        </p:nvSpPr>
        <p:spPr>
          <a:xfrm>
            <a:off x="7406640" y="5074920"/>
            <a:ext cx="3931920" cy="822960"/>
          </a:xfrm>
          <a:prstGeom prst="rect">
            <a:avLst/>
          </a:prstGeom>
          <a:noFill/>
          <a:ln/>
        </p:spPr>
        <p:txBody>
          <a:bodyPr wrap="square" lIns="0" tIns="0" rIns="0" bIns="0" rtlCol="0" anchor="t"/>
          <a:lstStyle/>
          <a:p>
            <a:pPr indent="0" marL="0">
              <a:buNone/>
            </a:pPr>
            <a:r>
              <a:rPr lang="en-US" sz="1800" dirty="0">
                <a:solidFill>
                  <a:srgbClr val="686761"/>
                </a:solidFill>
              </a:rPr>
              <a:t>Project files and execution</a:t>
            </a:r>
            <a:endParaRPr lang="en-US" sz="1800" dirty="0"/>
          </a:p>
          <a:p>
            <a:pPr indent="0" marL="0">
              <a:buNone/>
            </a:pPr>
            <a:r>
              <a:rPr lang="en-US" sz="1800" dirty="0">
                <a:solidFill>
                  <a:srgbClr val="686761"/>
                </a:solidFill>
              </a:rPr>
              <a:t>stay with your connected Agent.</a:t>
            </a:r>
            <a:endParaRPr lang="en-US" sz="1800" dirty="0"/>
          </a:p>
        </p:txBody>
      </p:sp>
      <p:sp>
        <p:nvSpPr>
          <p:cNvPr id="12" name="Text 7"/>
          <p:cNvSpPr/>
          <p:nvPr/>
        </p:nvSpPr>
        <p:spPr>
          <a:xfrm>
            <a:off x="640080" y="6419088"/>
            <a:ext cx="10149840" cy="256032"/>
          </a:xfrm>
          <a:prstGeom prst="rect">
            <a:avLst/>
          </a:prstGeom>
          <a:noFill/>
          <a:ln/>
        </p:spPr>
        <p:txBody>
          <a:bodyPr wrap="square" lIns="0" tIns="0" rIns="0" bIns="0" rtlCol="0" anchor="ctr"/>
          <a:lstStyle/>
          <a:p>
            <a:pPr indent="0" marL="0">
              <a:buNone/>
            </a:pPr>
            <a:r>
              <a:rPr lang="en-US" sz="900" dirty="0">
                <a:solidFill>
                  <a:srgbClr val="686761"/>
                </a:solidFill>
              </a:rPr>
              <a:t>Real UI · Staged demo · Requires a reachable Server and an online Agent.</a:t>
            </a:r>
            <a:endParaRPr lang="en-US" sz="9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40080" y="777240"/>
            <a:ext cx="10881360" cy="246888"/>
          </a:xfrm>
          <a:prstGeom prst="rect">
            <a:avLst/>
          </a:prstGeom>
          <a:noFill/>
          <a:ln/>
        </p:spPr>
        <p:txBody>
          <a:bodyPr wrap="square" lIns="0" tIns="0" rIns="0" bIns="0" rtlCol="0" anchor="ctr"/>
          <a:lstStyle/>
          <a:p>
            <a:pPr indent="0" marL="0">
              <a:buNone/>
            </a:pPr>
            <a:r>
              <a:rPr lang="en-US" sz="1100" b="1" spc="110" kern="0" dirty="0">
                <a:solidFill>
                  <a:srgbClr val="8B5E3C"/>
                </a:solidFill>
              </a:rPr>
              <a:t>MULTI-ROLE COLLABORATION + HANDOFFS</a:t>
            </a:r>
            <a:endParaRPr lang="en-US" sz="1100" dirty="0"/>
          </a:p>
        </p:txBody>
      </p:sp>
      <p:sp>
        <p:nvSpPr>
          <p:cNvPr id="4" name="Text 1"/>
          <p:cNvSpPr/>
          <p:nvPr/>
        </p:nvSpPr>
        <p:spPr>
          <a:xfrm>
            <a:off x="640080" y="1143000"/>
            <a:ext cx="10881360" cy="749808"/>
          </a:xfrm>
          <a:prstGeom prst="rect">
            <a:avLst/>
          </a:prstGeom>
          <a:noFill/>
          <a:ln/>
        </p:spPr>
        <p:txBody>
          <a:bodyPr wrap="square" lIns="0" tIns="0" rIns="0" bIns="0" rtlCol="0" anchor="ctr"/>
          <a:lstStyle/>
          <a:p>
            <a:pPr indent="0" marL="0">
              <a:buNone/>
            </a:pPr>
            <a:r>
              <a:rPr lang="en-US" sz="3000" b="1" dirty="0">
                <a:solidFill>
                  <a:srgbClr val="1D1D1B"/>
                </a:solidFill>
              </a:rPr>
              <a:t>The right role. The next step.</a:t>
            </a:r>
            <a:endParaRPr lang="en-US" sz="3000" dirty="0"/>
          </a:p>
        </p:txBody>
      </p:sp>
      <p:sp>
        <p:nvSpPr>
          <p:cNvPr id="5" name="Text 2"/>
          <p:cNvSpPr/>
          <p:nvPr/>
        </p:nvSpPr>
        <p:spPr>
          <a:xfrm>
            <a:off x="667512" y="1938528"/>
            <a:ext cx="10789920" cy="502920"/>
          </a:xfrm>
          <a:prstGeom prst="rect">
            <a:avLst/>
          </a:prstGeom>
          <a:noFill/>
          <a:ln/>
        </p:spPr>
        <p:txBody>
          <a:bodyPr wrap="square" lIns="0" tIns="0" rIns="0" bIns="0" rtlCol="0" anchor="t"/>
          <a:lstStyle/>
          <a:p>
            <a:pPr indent="0" marL="0">
              <a:buNone/>
            </a:pPr>
            <a:r>
              <a:rPr lang="en-US" sz="1500" dirty="0">
                <a:solidFill>
                  <a:srgbClr val="686761"/>
                </a:solidFill>
              </a:rPr>
              <a:t>Start with one VP. Add distinct responsibilities when the task needs them.</a:t>
            </a:r>
            <a:endParaRPr lang="en-US" sz="1500" dirty="0"/>
          </a:p>
        </p:txBody>
      </p:sp>
      <p:pic>
        <p:nvPicPr>
          <p:cNvPr id="6" name="Image 0" descr="/home/azureuser/projects/yeaft-web-code-agent/.yeaft/worktrees/showcase-work-anywhere/artifacts/showcase/work-anywhere-assets/05-session-roster.png">    </p:cNvPr>
          <p:cNvPicPr>
            <a:picLocks noChangeAspect="1"/>
          </p:cNvPicPr>
          <p:nvPr/>
        </p:nvPicPr>
        <p:blipFill>
          <a:blip r:embed="rId1"/>
          <a:stretch>
            <a:fillRect/>
          </a:stretch>
        </p:blipFill>
        <p:spPr>
          <a:xfrm>
            <a:off x="968736" y="2697480"/>
            <a:ext cx="4591343" cy="3410712"/>
          </a:xfrm>
          <a:prstGeom prst="rect">
            <a:avLst/>
          </a:prstGeom>
        </p:spPr>
      </p:pic>
      <p:sp>
        <p:nvSpPr>
          <p:cNvPr id="7" name="Text 3"/>
          <p:cNvSpPr/>
          <p:nvPr/>
        </p:nvSpPr>
        <p:spPr>
          <a:xfrm>
            <a:off x="6355080" y="2761488"/>
            <a:ext cx="457200" cy="301752"/>
          </a:xfrm>
          <a:prstGeom prst="rect">
            <a:avLst/>
          </a:prstGeom>
          <a:noFill/>
          <a:ln/>
        </p:spPr>
        <p:txBody>
          <a:bodyPr wrap="square" lIns="0" tIns="0" rIns="0" bIns="0" rtlCol="0" anchor="ctr"/>
          <a:lstStyle/>
          <a:p>
            <a:pPr indent="0" marL="0">
              <a:buNone/>
            </a:pPr>
            <a:r>
              <a:rPr lang="en-US" sz="1200" b="1" dirty="0">
                <a:solidFill>
                  <a:srgbClr val="8B5E3C"/>
                </a:solidFill>
              </a:rPr>
              <a:t>01</a:t>
            </a:r>
            <a:endParaRPr lang="en-US" sz="1200" dirty="0"/>
          </a:p>
        </p:txBody>
      </p:sp>
      <p:sp>
        <p:nvSpPr>
          <p:cNvPr id="8" name="Text 4"/>
          <p:cNvSpPr/>
          <p:nvPr/>
        </p:nvSpPr>
        <p:spPr>
          <a:xfrm>
            <a:off x="6858000" y="2715768"/>
            <a:ext cx="4480560" cy="420624"/>
          </a:xfrm>
          <a:prstGeom prst="rect">
            <a:avLst/>
          </a:prstGeom>
          <a:noFill/>
          <a:ln/>
        </p:spPr>
        <p:txBody>
          <a:bodyPr wrap="square" lIns="0" tIns="0" rIns="0" bIns="0" rtlCol="0" anchor="ctr"/>
          <a:lstStyle/>
          <a:p>
            <a:pPr indent="0" marL="0">
              <a:buNone/>
            </a:pPr>
            <a:r>
              <a:rPr lang="en-US" sz="2200" b="1" dirty="0">
                <a:solidFill>
                  <a:srgbClr val="1D1D1B"/>
                </a:solidFill>
              </a:rPr>
              <a:t>Investigate</a:t>
            </a:r>
            <a:endParaRPr lang="en-US" sz="2200" dirty="0"/>
          </a:p>
        </p:txBody>
      </p:sp>
      <p:sp>
        <p:nvSpPr>
          <p:cNvPr id="9" name="Text 5"/>
          <p:cNvSpPr/>
          <p:nvPr/>
        </p:nvSpPr>
        <p:spPr>
          <a:xfrm>
            <a:off x="6858000" y="3218688"/>
            <a:ext cx="4480560" cy="393192"/>
          </a:xfrm>
          <a:prstGeom prst="rect">
            <a:avLst/>
          </a:prstGeom>
          <a:noFill/>
          <a:ln/>
        </p:spPr>
        <p:txBody>
          <a:bodyPr wrap="square" lIns="0" tIns="0" rIns="0" bIns="0" rtlCol="0" anchor="t"/>
          <a:lstStyle/>
          <a:p>
            <a:pPr indent="0" marL="0">
              <a:buNone/>
            </a:pPr>
            <a:r>
              <a:rPr lang="en-US" sz="1500" dirty="0">
                <a:solidFill>
                  <a:srgbClr val="686761"/>
                </a:solidFill>
              </a:rPr>
              <a:t>Find the cause. Pass the findings.</a:t>
            </a:r>
            <a:endParaRPr lang="en-US" sz="1500" dirty="0"/>
          </a:p>
        </p:txBody>
      </p:sp>
      <p:sp>
        <p:nvSpPr>
          <p:cNvPr id="10" name="Text 6"/>
          <p:cNvSpPr/>
          <p:nvPr/>
        </p:nvSpPr>
        <p:spPr>
          <a:xfrm>
            <a:off x="6876288" y="3575304"/>
            <a:ext cx="365760" cy="237744"/>
          </a:xfrm>
          <a:prstGeom prst="rect">
            <a:avLst/>
          </a:prstGeom>
          <a:noFill/>
          <a:ln/>
        </p:spPr>
        <p:txBody>
          <a:bodyPr wrap="square" lIns="0" tIns="0" rIns="0" bIns="0" rtlCol="0" anchor="ctr"/>
          <a:lstStyle/>
          <a:p>
            <a:pPr indent="0" marL="0">
              <a:buNone/>
            </a:pPr>
            <a:r>
              <a:rPr lang="en-US" sz="1500" dirty="0">
                <a:solidFill>
                  <a:srgbClr val="8B5E3C"/>
                </a:solidFill>
              </a:rPr>
              <a:t>↓</a:t>
            </a:r>
            <a:endParaRPr lang="en-US" sz="1500" dirty="0"/>
          </a:p>
        </p:txBody>
      </p:sp>
      <p:sp>
        <p:nvSpPr>
          <p:cNvPr id="11" name="Text 7"/>
          <p:cNvSpPr/>
          <p:nvPr/>
        </p:nvSpPr>
        <p:spPr>
          <a:xfrm>
            <a:off x="6355080" y="3803904"/>
            <a:ext cx="457200" cy="301752"/>
          </a:xfrm>
          <a:prstGeom prst="rect">
            <a:avLst/>
          </a:prstGeom>
          <a:noFill/>
          <a:ln/>
        </p:spPr>
        <p:txBody>
          <a:bodyPr wrap="square" lIns="0" tIns="0" rIns="0" bIns="0" rtlCol="0" anchor="ctr"/>
          <a:lstStyle/>
          <a:p>
            <a:pPr indent="0" marL="0">
              <a:buNone/>
            </a:pPr>
            <a:r>
              <a:rPr lang="en-US" sz="1200" b="1" dirty="0">
                <a:solidFill>
                  <a:srgbClr val="8B5E3C"/>
                </a:solidFill>
              </a:rPr>
              <a:t>02</a:t>
            </a:r>
            <a:endParaRPr lang="en-US" sz="1200" dirty="0"/>
          </a:p>
        </p:txBody>
      </p:sp>
      <p:sp>
        <p:nvSpPr>
          <p:cNvPr id="12" name="Text 8"/>
          <p:cNvSpPr/>
          <p:nvPr/>
        </p:nvSpPr>
        <p:spPr>
          <a:xfrm>
            <a:off x="6858000" y="3758184"/>
            <a:ext cx="4480560" cy="420624"/>
          </a:xfrm>
          <a:prstGeom prst="rect">
            <a:avLst/>
          </a:prstGeom>
          <a:noFill/>
          <a:ln/>
        </p:spPr>
        <p:txBody>
          <a:bodyPr wrap="square" lIns="0" tIns="0" rIns="0" bIns="0" rtlCol="0" anchor="ctr"/>
          <a:lstStyle/>
          <a:p>
            <a:pPr indent="0" marL="0">
              <a:buNone/>
            </a:pPr>
            <a:r>
              <a:rPr lang="en-US" sz="2200" b="1" dirty="0">
                <a:solidFill>
                  <a:srgbClr val="1D1D1B"/>
                </a:solidFill>
              </a:rPr>
              <a:t>Implement</a:t>
            </a:r>
            <a:endParaRPr lang="en-US" sz="2200" dirty="0"/>
          </a:p>
        </p:txBody>
      </p:sp>
      <p:sp>
        <p:nvSpPr>
          <p:cNvPr id="13" name="Text 9"/>
          <p:cNvSpPr/>
          <p:nvPr/>
        </p:nvSpPr>
        <p:spPr>
          <a:xfrm>
            <a:off x="6858000" y="4261104"/>
            <a:ext cx="4480560" cy="393192"/>
          </a:xfrm>
          <a:prstGeom prst="rect">
            <a:avLst/>
          </a:prstGeom>
          <a:noFill/>
          <a:ln/>
        </p:spPr>
        <p:txBody>
          <a:bodyPr wrap="square" lIns="0" tIns="0" rIns="0" bIns="0" rtlCol="0" anchor="t"/>
          <a:lstStyle/>
          <a:p>
            <a:pPr indent="0" marL="0">
              <a:buNone/>
            </a:pPr>
            <a:r>
              <a:rPr lang="en-US" sz="1500" dirty="0">
                <a:solidFill>
                  <a:srgbClr val="686761"/>
                </a:solidFill>
              </a:rPr>
              <a:t>Make the change. Hand off the patch.</a:t>
            </a:r>
            <a:endParaRPr lang="en-US" sz="1500" dirty="0"/>
          </a:p>
        </p:txBody>
      </p:sp>
      <p:sp>
        <p:nvSpPr>
          <p:cNvPr id="14" name="Text 10"/>
          <p:cNvSpPr/>
          <p:nvPr/>
        </p:nvSpPr>
        <p:spPr>
          <a:xfrm>
            <a:off x="6876288" y="4617720"/>
            <a:ext cx="365760" cy="237744"/>
          </a:xfrm>
          <a:prstGeom prst="rect">
            <a:avLst/>
          </a:prstGeom>
          <a:noFill/>
          <a:ln/>
        </p:spPr>
        <p:txBody>
          <a:bodyPr wrap="square" lIns="0" tIns="0" rIns="0" bIns="0" rtlCol="0" anchor="ctr"/>
          <a:lstStyle/>
          <a:p>
            <a:pPr indent="0" marL="0">
              <a:buNone/>
            </a:pPr>
            <a:r>
              <a:rPr lang="en-US" sz="1500" dirty="0">
                <a:solidFill>
                  <a:srgbClr val="8B5E3C"/>
                </a:solidFill>
              </a:rPr>
              <a:t>↓</a:t>
            </a:r>
            <a:endParaRPr lang="en-US" sz="1500" dirty="0"/>
          </a:p>
        </p:txBody>
      </p:sp>
      <p:sp>
        <p:nvSpPr>
          <p:cNvPr id="15" name="Text 11"/>
          <p:cNvSpPr/>
          <p:nvPr/>
        </p:nvSpPr>
        <p:spPr>
          <a:xfrm>
            <a:off x="6355080" y="4846320"/>
            <a:ext cx="457200" cy="301752"/>
          </a:xfrm>
          <a:prstGeom prst="rect">
            <a:avLst/>
          </a:prstGeom>
          <a:noFill/>
          <a:ln/>
        </p:spPr>
        <p:txBody>
          <a:bodyPr wrap="square" lIns="0" tIns="0" rIns="0" bIns="0" rtlCol="0" anchor="ctr"/>
          <a:lstStyle/>
          <a:p>
            <a:pPr indent="0" marL="0">
              <a:buNone/>
            </a:pPr>
            <a:r>
              <a:rPr lang="en-US" sz="1200" b="1" dirty="0">
                <a:solidFill>
                  <a:srgbClr val="8B5E3C"/>
                </a:solidFill>
              </a:rPr>
              <a:t>03</a:t>
            </a:r>
            <a:endParaRPr lang="en-US" sz="1200" dirty="0"/>
          </a:p>
        </p:txBody>
      </p:sp>
      <p:sp>
        <p:nvSpPr>
          <p:cNvPr id="16" name="Text 12"/>
          <p:cNvSpPr/>
          <p:nvPr/>
        </p:nvSpPr>
        <p:spPr>
          <a:xfrm>
            <a:off x="6858000" y="4800600"/>
            <a:ext cx="4480560" cy="420624"/>
          </a:xfrm>
          <a:prstGeom prst="rect">
            <a:avLst/>
          </a:prstGeom>
          <a:noFill/>
          <a:ln/>
        </p:spPr>
        <p:txBody>
          <a:bodyPr wrap="square" lIns="0" tIns="0" rIns="0" bIns="0" rtlCol="0" anchor="ctr"/>
          <a:lstStyle/>
          <a:p>
            <a:pPr indent="0" marL="0">
              <a:buNone/>
            </a:pPr>
            <a:r>
              <a:rPr lang="en-US" sz="2200" b="1" dirty="0">
                <a:solidFill>
                  <a:srgbClr val="1D1D1B"/>
                </a:solidFill>
              </a:rPr>
              <a:t>Review</a:t>
            </a:r>
            <a:endParaRPr lang="en-US" sz="2200" dirty="0"/>
          </a:p>
        </p:txBody>
      </p:sp>
      <p:sp>
        <p:nvSpPr>
          <p:cNvPr id="17" name="Text 13"/>
          <p:cNvSpPr/>
          <p:nvPr/>
        </p:nvSpPr>
        <p:spPr>
          <a:xfrm>
            <a:off x="6858000" y="5303520"/>
            <a:ext cx="4480560" cy="393192"/>
          </a:xfrm>
          <a:prstGeom prst="rect">
            <a:avLst/>
          </a:prstGeom>
          <a:noFill/>
          <a:ln/>
        </p:spPr>
        <p:txBody>
          <a:bodyPr wrap="square" lIns="0" tIns="0" rIns="0" bIns="0" rtlCol="0" anchor="t"/>
          <a:lstStyle/>
          <a:p>
            <a:pPr indent="0" marL="0">
              <a:buNone/>
            </a:pPr>
            <a:r>
              <a:rPr lang="en-US" sz="1500" dirty="0">
                <a:solidFill>
                  <a:srgbClr val="686761"/>
                </a:solidFill>
              </a:rPr>
              <a:t>Challenge the result. Return a verdict.</a:t>
            </a:r>
            <a:endParaRPr lang="en-US" sz="1500" dirty="0"/>
          </a:p>
        </p:txBody>
      </p:sp>
      <p:sp>
        <p:nvSpPr>
          <p:cNvPr id="18" name="Text 14"/>
          <p:cNvSpPr/>
          <p:nvPr/>
        </p:nvSpPr>
        <p:spPr>
          <a:xfrm>
            <a:off x="6355080" y="6016752"/>
            <a:ext cx="5166360" cy="246888"/>
          </a:xfrm>
          <a:prstGeom prst="rect">
            <a:avLst/>
          </a:prstGeom>
          <a:noFill/>
          <a:ln/>
        </p:spPr>
        <p:txBody>
          <a:bodyPr wrap="square" lIns="0" tIns="0" rIns="0" bIns="0" rtlCol="0" anchor="ctr"/>
          <a:lstStyle/>
          <a:p>
            <a:pPr indent="0" marL="0">
              <a:buNone/>
            </a:pPr>
            <a:r>
              <a:rPr lang="en-US" sz="1400" dirty="0">
                <a:solidFill>
                  <a:srgbClr val="8B5E3C"/>
                </a:solidFill>
              </a:rPr>
              <a:t>Explicit handoffs—not a fixed pipeline.</a:t>
            </a:r>
            <a:endParaRPr lang="en-US" sz="1400" dirty="0"/>
          </a:p>
        </p:txBody>
      </p:sp>
      <p:sp>
        <p:nvSpPr>
          <p:cNvPr id="19" name="Text 15"/>
          <p:cNvSpPr/>
          <p:nvPr/>
        </p:nvSpPr>
        <p:spPr>
          <a:xfrm>
            <a:off x="640080" y="6419088"/>
            <a:ext cx="10149840" cy="256032"/>
          </a:xfrm>
          <a:prstGeom prst="rect">
            <a:avLst/>
          </a:prstGeom>
          <a:noFill/>
          <a:ln/>
        </p:spPr>
        <p:txBody>
          <a:bodyPr wrap="square" lIns="0" tIns="0" rIns="0" bIns="0" rtlCol="0" anchor="ctr"/>
          <a:lstStyle/>
          <a:p>
            <a:pPr indent="0" marL="0">
              <a:buNone/>
            </a:pPr>
            <a:r>
              <a:rPr lang="en-US" sz="900" dirty="0">
                <a:solidFill>
                  <a:srgbClr val="686761"/>
                </a:solidFill>
              </a:rPr>
              <a:t>Real UI · Staged role configuration · Handoff sequence is illustrative.</a:t>
            </a:r>
            <a:endParaRPr lang="en-US" sz="9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40080" y="777240"/>
            <a:ext cx="10881360" cy="246888"/>
          </a:xfrm>
          <a:prstGeom prst="rect">
            <a:avLst/>
          </a:prstGeom>
          <a:noFill/>
          <a:ln/>
        </p:spPr>
        <p:txBody>
          <a:bodyPr wrap="square" lIns="0" tIns="0" rIns="0" bIns="0" rtlCol="0" anchor="ctr"/>
          <a:lstStyle/>
          <a:p>
            <a:pPr indent="0" marL="0">
              <a:buNone/>
            </a:pPr>
            <a:r>
              <a:rPr lang="en-US" sz="1100" b="1" spc="110" kern="0" dirty="0">
                <a:solidFill>
                  <a:srgbClr val="8B5E3C"/>
                </a:solidFill>
              </a:rPr>
              <a:t>CONFIGURABLE SYSTEM PROMPTS</a:t>
            </a:r>
            <a:endParaRPr lang="en-US" sz="1100" dirty="0"/>
          </a:p>
        </p:txBody>
      </p:sp>
      <p:sp>
        <p:nvSpPr>
          <p:cNvPr id="4" name="Text 1"/>
          <p:cNvSpPr/>
          <p:nvPr/>
        </p:nvSpPr>
        <p:spPr>
          <a:xfrm>
            <a:off x="640080" y="1143000"/>
            <a:ext cx="10881360" cy="749808"/>
          </a:xfrm>
          <a:prstGeom prst="rect">
            <a:avLst/>
          </a:prstGeom>
          <a:noFill/>
          <a:ln/>
        </p:spPr>
        <p:txBody>
          <a:bodyPr wrap="square" lIns="0" tIns="0" rIns="0" bIns="0" rtlCol="0" anchor="ctr"/>
          <a:lstStyle/>
          <a:p>
            <a:pPr indent="0" marL="0">
              <a:buNone/>
            </a:pPr>
            <a:r>
              <a:rPr lang="en-US" sz="3000" b="1" dirty="0">
                <a:solidFill>
                  <a:srgbClr val="1D1D1B"/>
                </a:solidFill>
              </a:rPr>
              <a:t>Define the roles. Set the working rules.</a:t>
            </a:r>
            <a:endParaRPr lang="en-US" sz="3000" dirty="0"/>
          </a:p>
        </p:txBody>
      </p:sp>
      <p:sp>
        <p:nvSpPr>
          <p:cNvPr id="5" name="Text 2"/>
          <p:cNvSpPr/>
          <p:nvPr/>
        </p:nvSpPr>
        <p:spPr>
          <a:xfrm>
            <a:off x="667512" y="1938528"/>
            <a:ext cx="10789920" cy="502920"/>
          </a:xfrm>
          <a:prstGeom prst="rect">
            <a:avLst/>
          </a:prstGeom>
          <a:noFill/>
          <a:ln/>
        </p:spPr>
        <p:txBody>
          <a:bodyPr wrap="square" lIns="0" tIns="0" rIns="0" bIns="0" rtlCol="0" anchor="t"/>
          <a:lstStyle/>
          <a:p>
            <a:pPr indent="0" marL="0">
              <a:buNone/>
            </a:pPr>
            <a:r>
              <a:rPr lang="en-US" sz="1500" dirty="0">
                <a:solidFill>
                  <a:srgbClr val="686761"/>
                </a:solidFill>
              </a:rPr>
              <a:t>VP personas + shared Project instructions + repository conventions.</a:t>
            </a:r>
            <a:endParaRPr lang="en-US" sz="1500" dirty="0"/>
          </a:p>
        </p:txBody>
      </p:sp>
      <p:sp>
        <p:nvSpPr>
          <p:cNvPr id="6" name="Text 3"/>
          <p:cNvSpPr/>
          <p:nvPr/>
        </p:nvSpPr>
        <p:spPr>
          <a:xfrm>
            <a:off x="713232" y="2825496"/>
            <a:ext cx="5029200" cy="292608"/>
          </a:xfrm>
          <a:prstGeom prst="rect">
            <a:avLst/>
          </a:prstGeom>
          <a:noFill/>
          <a:ln/>
        </p:spPr>
        <p:txBody>
          <a:bodyPr wrap="square" lIns="0" tIns="0" rIns="0" bIns="0" rtlCol="0" anchor="ctr"/>
          <a:lstStyle/>
          <a:p>
            <a:pPr indent="0" marL="0">
              <a:buNone/>
            </a:pPr>
            <a:r>
              <a:rPr lang="en-US" sz="1200" b="1" dirty="0">
                <a:solidFill>
                  <a:srgbClr val="8B5E3C"/>
                </a:solidFill>
              </a:rPr>
              <a:t>ROLE / IMPLEMENTER</a:t>
            </a:r>
            <a:endParaRPr lang="en-US" sz="1200" dirty="0"/>
          </a:p>
        </p:txBody>
      </p:sp>
      <p:sp>
        <p:nvSpPr>
          <p:cNvPr id="7" name="Text 4"/>
          <p:cNvSpPr/>
          <p:nvPr/>
        </p:nvSpPr>
        <p:spPr>
          <a:xfrm>
            <a:off x="713232" y="3355848"/>
            <a:ext cx="5029200" cy="457200"/>
          </a:xfrm>
          <a:prstGeom prst="rect">
            <a:avLst/>
          </a:prstGeom>
          <a:noFill/>
          <a:ln/>
        </p:spPr>
        <p:txBody>
          <a:bodyPr wrap="square" lIns="0" tIns="0" rIns="0" bIns="0" rtlCol="0" anchor="ctr"/>
          <a:lstStyle/>
          <a:p>
            <a:pPr indent="0" marL="0">
              <a:buNone/>
            </a:pPr>
            <a:r>
              <a:rPr lang="en-US" sz="2500" b="1" dirty="0">
                <a:solidFill>
                  <a:srgbClr val="1D1D1B"/>
                </a:solidFill>
              </a:rPr>
              <a:t>A clear responsibility.</a:t>
            </a:r>
            <a:endParaRPr lang="en-US" sz="2500" dirty="0"/>
          </a:p>
        </p:txBody>
      </p:sp>
      <p:sp>
        <p:nvSpPr>
          <p:cNvPr id="8" name="Text 5"/>
          <p:cNvSpPr/>
          <p:nvPr/>
        </p:nvSpPr>
        <p:spPr>
          <a:xfrm>
            <a:off x="713232" y="4069080"/>
            <a:ext cx="4846320" cy="1243584"/>
          </a:xfrm>
          <a:prstGeom prst="rect">
            <a:avLst/>
          </a:prstGeom>
          <a:noFill/>
          <a:ln/>
        </p:spPr>
        <p:txBody>
          <a:bodyPr wrap="square" lIns="0" tIns="0" rIns="0" bIns="0" rtlCol="0" anchor="t"/>
          <a:lstStyle/>
          <a:p>
            <a:pPr indent="0" marL="0">
              <a:buNone/>
            </a:pPr>
            <a:r>
              <a:rPr lang="en-US" sz="2300" dirty="0">
                <a:solidFill>
                  <a:srgbClr val="686761"/>
                </a:solidFill>
              </a:rPr>
              <a:t>“Make the smallest useful change.</a:t>
            </a:r>
            <a:endParaRPr lang="en-US" sz="2300" dirty="0"/>
          </a:p>
          <a:p>
            <a:pPr indent="0" marL="0">
              <a:buNone/>
            </a:pPr>
            <a:r>
              <a:rPr lang="en-US" sz="2300" dirty="0">
                <a:solidFill>
                  <a:srgbClr val="686761"/>
                </a:solidFill>
              </a:rPr>
              <a:t>Report tests and open risks.”</a:t>
            </a:r>
            <a:endParaRPr lang="en-US" sz="2300" dirty="0"/>
          </a:p>
        </p:txBody>
      </p:sp>
      <p:sp>
        <p:nvSpPr>
          <p:cNvPr id="9" name="Text 6"/>
          <p:cNvSpPr/>
          <p:nvPr/>
        </p:nvSpPr>
        <p:spPr>
          <a:xfrm>
            <a:off x="6446520" y="2825496"/>
            <a:ext cx="4937760" cy="292608"/>
          </a:xfrm>
          <a:prstGeom prst="rect">
            <a:avLst/>
          </a:prstGeom>
          <a:noFill/>
          <a:ln/>
        </p:spPr>
        <p:txBody>
          <a:bodyPr wrap="square" lIns="0" tIns="0" rIns="0" bIns="0" rtlCol="0" anchor="ctr"/>
          <a:lstStyle/>
          <a:p>
            <a:pPr indent="0" marL="0">
              <a:buNone/>
            </a:pPr>
            <a:r>
              <a:rPr lang="en-US" sz="1200" b="1" dirty="0">
                <a:solidFill>
                  <a:srgbClr val="8B5E3C"/>
                </a:solidFill>
              </a:rPr>
              <a:t>SHARED RULES / EXAMPLE</a:t>
            </a:r>
            <a:endParaRPr lang="en-US" sz="1200" dirty="0"/>
          </a:p>
        </p:txBody>
      </p:sp>
      <p:sp>
        <p:nvSpPr>
          <p:cNvPr id="10" name="Text 7"/>
          <p:cNvSpPr/>
          <p:nvPr/>
        </p:nvSpPr>
        <p:spPr>
          <a:xfrm>
            <a:off x="6446520" y="3355848"/>
            <a:ext cx="4937760" cy="457200"/>
          </a:xfrm>
          <a:prstGeom prst="rect">
            <a:avLst/>
          </a:prstGeom>
          <a:noFill/>
          <a:ln/>
        </p:spPr>
        <p:txBody>
          <a:bodyPr wrap="square" lIns="0" tIns="0" rIns="0" bIns="0" rtlCol="0" anchor="ctr"/>
          <a:lstStyle/>
          <a:p>
            <a:pPr indent="0" marL="0">
              <a:buNone/>
            </a:pPr>
            <a:r>
              <a:rPr lang="en-US" sz="2500" b="1" dirty="0">
                <a:solidFill>
                  <a:srgbClr val="1D1D1B"/>
                </a:solidFill>
              </a:rPr>
              <a:t>Consistent standards.</a:t>
            </a:r>
            <a:endParaRPr lang="en-US" sz="2500" dirty="0"/>
          </a:p>
        </p:txBody>
      </p:sp>
      <p:sp>
        <p:nvSpPr>
          <p:cNvPr id="11" name="Text 8"/>
          <p:cNvSpPr/>
          <p:nvPr/>
        </p:nvSpPr>
        <p:spPr>
          <a:xfrm>
            <a:off x="6446520" y="4069080"/>
            <a:ext cx="4846320" cy="1243584"/>
          </a:xfrm>
          <a:prstGeom prst="rect">
            <a:avLst/>
          </a:prstGeom>
          <a:noFill/>
          <a:ln/>
        </p:spPr>
        <p:txBody>
          <a:bodyPr wrap="square" lIns="0" tIns="0" rIns="0" bIns="0" rtlCol="0" anchor="t"/>
          <a:lstStyle/>
          <a:p>
            <a:pPr indent="0" marL="0">
              <a:buNone/>
            </a:pPr>
            <a:r>
              <a:rPr lang="en-US" sz="2300" dirty="0">
                <a:solidFill>
                  <a:srgbClr val="686761"/>
                </a:solidFill>
              </a:rPr>
              <a:t>“Review the exact revision.</a:t>
            </a:r>
            <a:endParaRPr lang="en-US" sz="2300" dirty="0"/>
          </a:p>
          <a:p>
            <a:pPr indent="0" marL="0">
              <a:buNone/>
            </a:pPr>
            <a:r>
              <a:rPr lang="en-US" sz="2300" dirty="0">
                <a:solidFill>
                  <a:srgbClr val="686761"/>
                </a:solidFill>
              </a:rPr>
              <a:t>Ask before deployment.”</a:t>
            </a:r>
            <a:endParaRPr lang="en-US" sz="2300" dirty="0"/>
          </a:p>
        </p:txBody>
      </p:sp>
      <p:sp>
        <p:nvSpPr>
          <p:cNvPr id="12" name="Text 9"/>
          <p:cNvSpPr/>
          <p:nvPr/>
        </p:nvSpPr>
        <p:spPr>
          <a:xfrm>
            <a:off x="713232" y="5870448"/>
            <a:ext cx="10789920" cy="365760"/>
          </a:xfrm>
          <a:prstGeom prst="rect">
            <a:avLst/>
          </a:prstGeom>
          <a:noFill/>
          <a:ln/>
        </p:spPr>
        <p:txBody>
          <a:bodyPr wrap="square" lIns="0" tIns="0" rIns="0" bIns="0" rtlCol="0" anchor="ctr"/>
          <a:lstStyle/>
          <a:p>
            <a:pPr indent="0" marL="0">
              <a:buNone/>
            </a:pPr>
            <a:r>
              <a:rPr lang="en-US" sz="2000" dirty="0">
                <a:solidFill>
                  <a:srgbClr val="8B5E3C"/>
                </a:solidFill>
              </a:rPr>
              <a:t>Set expectations once. Carry them into the work.</a:t>
            </a:r>
            <a:endParaRPr lang="en-US" sz="2000" dirty="0"/>
          </a:p>
        </p:txBody>
      </p:sp>
      <p:sp>
        <p:nvSpPr>
          <p:cNvPr id="13" name="Text 10"/>
          <p:cNvSpPr/>
          <p:nvPr/>
        </p:nvSpPr>
        <p:spPr>
          <a:xfrm>
            <a:off x="640080" y="6419088"/>
            <a:ext cx="10149840" cy="256032"/>
          </a:xfrm>
          <a:prstGeom prst="rect">
            <a:avLst/>
          </a:prstGeom>
          <a:noFill/>
          <a:ln/>
        </p:spPr>
        <p:txBody>
          <a:bodyPr wrap="square" lIns="0" tIns="0" rIns="0" bIns="0" rtlCol="0" anchor="ctr"/>
          <a:lstStyle/>
          <a:p>
            <a:pPr indent="0" marL="0">
              <a:buNone/>
            </a:pPr>
            <a:r>
              <a:rPr lang="en-US" sz="900" dirty="0">
                <a:solidFill>
                  <a:srgbClr val="686761"/>
                </a:solidFill>
              </a:rPr>
              <a:t>Illustrative instructions · Prompts guide behavior; they are not a security sandbox.</a:t>
            </a:r>
            <a:endParaRPr lang="en-US" sz="9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40080" y="777240"/>
            <a:ext cx="10881360" cy="246888"/>
          </a:xfrm>
          <a:prstGeom prst="rect">
            <a:avLst/>
          </a:prstGeom>
          <a:noFill/>
          <a:ln/>
        </p:spPr>
        <p:txBody>
          <a:bodyPr wrap="square" lIns="0" tIns="0" rIns="0" bIns="0" rtlCol="0" anchor="ctr"/>
          <a:lstStyle/>
          <a:p>
            <a:pPr indent="0" marL="0">
              <a:buNone/>
            </a:pPr>
            <a:r>
              <a:rPr lang="en-US" sz="1100" b="1" spc="110" kern="0" dirty="0">
                <a:solidFill>
                  <a:srgbClr val="8B5E3C"/>
                </a:solidFill>
              </a:rPr>
              <a:t>WORKBENCH</a:t>
            </a:r>
            <a:endParaRPr lang="en-US" sz="1100" dirty="0"/>
          </a:p>
        </p:txBody>
      </p:sp>
      <p:sp>
        <p:nvSpPr>
          <p:cNvPr id="4" name="Text 1"/>
          <p:cNvSpPr/>
          <p:nvPr/>
        </p:nvSpPr>
        <p:spPr>
          <a:xfrm>
            <a:off x="640080" y="1143000"/>
            <a:ext cx="10881360" cy="749808"/>
          </a:xfrm>
          <a:prstGeom prst="rect">
            <a:avLst/>
          </a:prstGeom>
          <a:noFill/>
          <a:ln/>
        </p:spPr>
        <p:txBody>
          <a:bodyPr wrap="square" lIns="0" tIns="0" rIns="0" bIns="0" rtlCol="0" anchor="ctr"/>
          <a:lstStyle/>
          <a:p>
            <a:pPr indent="0" marL="0">
              <a:buNone/>
            </a:pPr>
            <a:r>
              <a:rPr lang="en-US" sz="3000" b="1" dirty="0">
                <a:solidFill>
                  <a:srgbClr val="1D1D1B"/>
                </a:solidFill>
              </a:rPr>
              <a:t>Beyond chat. A real workbench.</a:t>
            </a:r>
            <a:endParaRPr lang="en-US" sz="3000" dirty="0"/>
          </a:p>
        </p:txBody>
      </p:sp>
      <p:sp>
        <p:nvSpPr>
          <p:cNvPr id="5" name="Text 2"/>
          <p:cNvSpPr/>
          <p:nvPr/>
        </p:nvSpPr>
        <p:spPr>
          <a:xfrm>
            <a:off x="667512" y="1938528"/>
            <a:ext cx="10789920" cy="502920"/>
          </a:xfrm>
          <a:prstGeom prst="rect">
            <a:avLst/>
          </a:prstGeom>
          <a:noFill/>
          <a:ln/>
        </p:spPr>
        <p:txBody>
          <a:bodyPr wrap="square" lIns="0" tIns="0" rIns="0" bIns="0" rtlCol="0" anchor="t"/>
          <a:lstStyle/>
          <a:p>
            <a:pPr indent="0" marL="0">
              <a:buNone/>
            </a:pPr>
            <a:r>
              <a:rPr lang="en-US" sz="1500" dirty="0">
                <a:solidFill>
                  <a:srgbClr val="686761"/>
                </a:solidFill>
              </a:rPr>
              <a:t>Inspect, verify, and intervene—not just wait for an answer.</a:t>
            </a:r>
            <a:endParaRPr lang="en-US" sz="1500" dirty="0"/>
          </a:p>
        </p:txBody>
      </p:sp>
      <p:sp>
        <p:nvSpPr>
          <p:cNvPr id="6" name="Text 3"/>
          <p:cNvSpPr/>
          <p:nvPr/>
        </p:nvSpPr>
        <p:spPr>
          <a:xfrm>
            <a:off x="685800" y="2734056"/>
            <a:ext cx="5303520" cy="301752"/>
          </a:xfrm>
          <a:prstGeom prst="rect">
            <a:avLst/>
          </a:prstGeom>
          <a:noFill/>
          <a:ln/>
        </p:spPr>
        <p:txBody>
          <a:bodyPr wrap="square" lIns="0" tIns="0" rIns="0" bIns="0" rtlCol="0" anchor="ctr"/>
          <a:lstStyle/>
          <a:p>
            <a:pPr indent="0" marL="0">
              <a:buNone/>
            </a:pPr>
            <a:r>
              <a:rPr lang="en-US" sz="1300" b="1" dirty="0">
                <a:solidFill>
                  <a:srgbClr val="8B5E3C"/>
                </a:solidFill>
              </a:rPr>
              <a:t>FILES / ACTUAL SOURCE</a:t>
            </a:r>
            <a:endParaRPr lang="en-US" sz="1300" dirty="0"/>
          </a:p>
        </p:txBody>
      </p:sp>
      <p:sp>
        <p:nvSpPr>
          <p:cNvPr id="7" name="Text 4"/>
          <p:cNvSpPr/>
          <p:nvPr/>
        </p:nvSpPr>
        <p:spPr>
          <a:xfrm>
            <a:off x="6263640" y="2734056"/>
            <a:ext cx="5212080" cy="301752"/>
          </a:xfrm>
          <a:prstGeom prst="rect">
            <a:avLst/>
          </a:prstGeom>
          <a:noFill/>
          <a:ln/>
        </p:spPr>
        <p:txBody>
          <a:bodyPr wrap="square" lIns="0" tIns="0" rIns="0" bIns="0" rtlCol="0" anchor="ctr"/>
          <a:lstStyle/>
          <a:p>
            <a:pPr indent="0" marL="0">
              <a:buNone/>
            </a:pPr>
            <a:r>
              <a:rPr lang="en-US" sz="1300" b="1" dirty="0">
                <a:solidFill>
                  <a:srgbClr val="8B5E3C"/>
                </a:solidFill>
              </a:rPr>
              <a:t>TERMINAL / COMMAND OUTPUT</a:t>
            </a:r>
            <a:endParaRPr lang="en-US" sz="1300" dirty="0"/>
          </a:p>
        </p:txBody>
      </p:sp>
      <p:pic>
        <p:nvPicPr>
          <p:cNvPr id="8" name="Image 0" descr="/home/azureuser/projects/yeaft-web-code-agent/.yeaft/worktrees/showcase-work-anywhere/artifacts/showcase/work-anywhere-assets/08-workbench-files-correct.png">    </p:cNvPr>
          <p:cNvPicPr>
            <a:picLocks noChangeAspect="1"/>
          </p:cNvPicPr>
          <p:nvPr/>
        </p:nvPicPr>
        <p:blipFill>
          <a:blip r:embed="rId1"/>
          <a:stretch>
            <a:fillRect/>
          </a:stretch>
        </p:blipFill>
        <p:spPr>
          <a:xfrm>
            <a:off x="2006879" y="3218688"/>
            <a:ext cx="2670505" cy="2715768"/>
          </a:xfrm>
          <a:prstGeom prst="rect">
            <a:avLst/>
          </a:prstGeom>
        </p:spPr>
      </p:pic>
      <p:pic>
        <p:nvPicPr>
          <p:cNvPr id="9" name="Image 1" descr="/home/azureuser/projects/yeaft-web-code-agent/.yeaft/worktrees/showcase-work-anywhere/artifacts/showcase/work-anywhere-assets/08-workbench-terminal-correct.png">    </p:cNvPr>
          <p:cNvPicPr>
            <a:picLocks noChangeAspect="1"/>
          </p:cNvPicPr>
          <p:nvPr/>
        </p:nvPicPr>
        <p:blipFill>
          <a:blip r:embed="rId2"/>
          <a:stretch>
            <a:fillRect/>
          </a:stretch>
        </p:blipFill>
        <p:spPr>
          <a:xfrm>
            <a:off x="7090732" y="3218688"/>
            <a:ext cx="3603615" cy="2715768"/>
          </a:xfrm>
          <a:prstGeom prst="rect">
            <a:avLst/>
          </a:prstGeom>
        </p:spPr>
      </p:pic>
      <p:sp>
        <p:nvSpPr>
          <p:cNvPr id="10" name="Text 5"/>
          <p:cNvSpPr/>
          <p:nvPr/>
        </p:nvSpPr>
        <p:spPr>
          <a:xfrm>
            <a:off x="640080" y="6419088"/>
            <a:ext cx="10149840" cy="256032"/>
          </a:xfrm>
          <a:prstGeom prst="rect">
            <a:avLst/>
          </a:prstGeom>
          <a:noFill/>
          <a:ln/>
        </p:spPr>
        <p:txBody>
          <a:bodyPr wrap="square" lIns="0" tIns="0" rIns="0" bIns="0" rtlCol="0" anchor="ctr"/>
          <a:lstStyle/>
          <a:p>
            <a:pPr indent="0" marL="0">
              <a:buNone/>
            </a:pPr>
            <a:r>
              <a:rPr lang="en-US" sz="900" dirty="0">
                <a:solidFill>
                  <a:srgbClr val="686761"/>
                </a:solidFill>
              </a:rPr>
              <a:t>Real UI · Staged inspection demo · Terminal shows recorded node --check output, not a full test suite.</a:t>
            </a:r>
            <a:endParaRPr lang="en-US" sz="9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40080" y="777240"/>
            <a:ext cx="10881360" cy="246888"/>
          </a:xfrm>
          <a:prstGeom prst="rect">
            <a:avLst/>
          </a:prstGeom>
          <a:noFill/>
          <a:ln/>
        </p:spPr>
        <p:txBody>
          <a:bodyPr wrap="square" lIns="0" tIns="0" rIns="0" bIns="0" rtlCol="0" anchor="ctr"/>
          <a:lstStyle/>
          <a:p>
            <a:pPr indent="0" marL="0">
              <a:buNone/>
            </a:pPr>
            <a:r>
              <a:rPr lang="en-US" sz="1100" b="1" spc="110" kern="0" dirty="0">
                <a:solidFill>
                  <a:srgbClr val="8B5E3C"/>
                </a:solidFill>
              </a:rPr>
              <a:t>DEVELOPMENT AUTOMATION · PREVIEW</a:t>
            </a:r>
            <a:endParaRPr lang="en-US" sz="1100" dirty="0"/>
          </a:p>
        </p:txBody>
      </p:sp>
      <p:sp>
        <p:nvSpPr>
          <p:cNvPr id="4" name="Text 1"/>
          <p:cNvSpPr/>
          <p:nvPr/>
        </p:nvSpPr>
        <p:spPr>
          <a:xfrm>
            <a:off x="640080" y="1143000"/>
            <a:ext cx="10881360" cy="749808"/>
          </a:xfrm>
          <a:prstGeom prst="rect">
            <a:avLst/>
          </a:prstGeom>
          <a:noFill/>
          <a:ln/>
        </p:spPr>
        <p:txBody>
          <a:bodyPr wrap="square" lIns="0" tIns="0" rIns="0" bIns="0" rtlCol="0" anchor="ctr"/>
          <a:lstStyle/>
          <a:p>
            <a:pPr indent="0" marL="0">
              <a:buNone/>
            </a:pPr>
            <a:r>
              <a:rPr lang="en-US" sz="3000" b="1" dirty="0">
                <a:solidFill>
                  <a:srgbClr val="1D1D1B"/>
                </a:solidFill>
              </a:rPr>
              <a:t>From a development goal to execution.</a:t>
            </a:r>
            <a:endParaRPr lang="en-US" sz="3000" dirty="0"/>
          </a:p>
        </p:txBody>
      </p:sp>
      <p:sp>
        <p:nvSpPr>
          <p:cNvPr id="5" name="Text 2"/>
          <p:cNvSpPr/>
          <p:nvPr/>
        </p:nvSpPr>
        <p:spPr>
          <a:xfrm>
            <a:off x="667512" y="1938528"/>
            <a:ext cx="10789920" cy="502920"/>
          </a:xfrm>
          <a:prstGeom prst="rect">
            <a:avLst/>
          </a:prstGeom>
          <a:noFill/>
          <a:ln/>
        </p:spPr>
        <p:txBody>
          <a:bodyPr wrap="square" lIns="0" tIns="0" rIns="0" bIns="0" rtlCol="0" anchor="t"/>
          <a:lstStyle/>
          <a:p>
            <a:pPr indent="0" marL="0">
              <a:buNone/>
            </a:pPr>
            <a:r>
              <a:rPr lang="en-US" sz="1500" dirty="0">
                <a:solidFill>
                  <a:srgbClr val="686761"/>
                </a:solidFill>
              </a:rPr>
              <a:t>Describe the outcome—not every next prompt.</a:t>
            </a:r>
            <a:endParaRPr lang="en-US" sz="1500" dirty="0"/>
          </a:p>
        </p:txBody>
      </p:sp>
      <p:sp>
        <p:nvSpPr>
          <p:cNvPr id="6" name="Shape 3"/>
          <p:cNvSpPr/>
          <p:nvPr/>
        </p:nvSpPr>
        <p:spPr>
          <a:xfrm>
            <a:off x="694944" y="2807208"/>
            <a:ext cx="5029200" cy="2633472"/>
          </a:xfrm>
          <a:prstGeom prst="rect">
            <a:avLst/>
          </a:prstGeom>
          <a:solidFill>
            <a:srgbClr val="E9E2D8"/>
          </a:solidFill>
          <a:ln w="7620">
            <a:solidFill>
              <a:srgbClr val="D7D2C8"/>
            </a:solidFill>
            <a:prstDash val="solid"/>
          </a:ln>
        </p:spPr>
      </p:sp>
      <p:sp>
        <p:nvSpPr>
          <p:cNvPr id="7" name="Text 4"/>
          <p:cNvSpPr/>
          <p:nvPr/>
        </p:nvSpPr>
        <p:spPr>
          <a:xfrm>
            <a:off x="960120" y="3054096"/>
            <a:ext cx="4480560" cy="274320"/>
          </a:xfrm>
          <a:prstGeom prst="rect">
            <a:avLst/>
          </a:prstGeom>
          <a:noFill/>
          <a:ln/>
        </p:spPr>
        <p:txBody>
          <a:bodyPr wrap="square" lIns="0" tIns="0" rIns="0" bIns="0" rtlCol="0" anchor="ctr"/>
          <a:lstStyle/>
          <a:p>
            <a:pPr indent="0" marL="0">
              <a:buNone/>
            </a:pPr>
            <a:r>
              <a:rPr lang="en-US" sz="1200" b="1" dirty="0">
                <a:solidFill>
                  <a:srgbClr val="8B5E3C"/>
                </a:solidFill>
              </a:rPr>
              <a:t>YOUR BRIEF / ILLUSTRATIVE</a:t>
            </a:r>
            <a:endParaRPr lang="en-US" sz="1200" dirty="0"/>
          </a:p>
        </p:txBody>
      </p:sp>
      <p:sp>
        <p:nvSpPr>
          <p:cNvPr id="8" name="Text 5"/>
          <p:cNvSpPr/>
          <p:nvPr/>
        </p:nvSpPr>
        <p:spPr>
          <a:xfrm>
            <a:off x="960120" y="3611880"/>
            <a:ext cx="4480560" cy="1353312"/>
          </a:xfrm>
          <a:prstGeom prst="rect">
            <a:avLst/>
          </a:prstGeom>
          <a:noFill/>
          <a:ln/>
        </p:spPr>
        <p:txBody>
          <a:bodyPr wrap="square" lIns="0" tIns="0" rIns="0" bIns="0" rtlCol="0" anchor="ctr"/>
          <a:lstStyle/>
          <a:p>
            <a:pPr indent="0" marL="0">
              <a:buNone/>
            </a:pPr>
            <a:r>
              <a:rPr lang="en-US" sz="2500" b="1" dirty="0">
                <a:solidFill>
                  <a:srgbClr val="1D1D1B"/>
                </a:solidFill>
              </a:rPr>
              <a:t>Fix the bug.</a:t>
            </a:r>
            <a:endParaRPr lang="en-US" sz="2500" dirty="0"/>
          </a:p>
          <a:p>
            <a:pPr indent="0" marL="0">
              <a:buNone/>
            </a:pPr>
            <a:r>
              <a:rPr lang="en-US" sz="2500" b="1" dirty="0">
                <a:solidFill>
                  <a:srgbClr val="1D1D1B"/>
                </a:solidFill>
              </a:rPr>
              <a:t>Add a regression test.</a:t>
            </a:r>
            <a:endParaRPr lang="en-US" sz="2500" dirty="0"/>
          </a:p>
          <a:p>
            <a:pPr indent="0" marL="0">
              <a:buNone/>
            </a:pPr>
            <a:r>
              <a:rPr lang="en-US" sz="2500" b="1" dirty="0">
                <a:solidFill>
                  <a:srgbClr val="1D1D1B"/>
                </a:solidFill>
              </a:rPr>
              <a:t>Prepare a patch for review.</a:t>
            </a:r>
            <a:endParaRPr lang="en-US" sz="2500" dirty="0"/>
          </a:p>
        </p:txBody>
      </p:sp>
      <p:sp>
        <p:nvSpPr>
          <p:cNvPr id="9" name="Shape 6"/>
          <p:cNvSpPr/>
          <p:nvPr/>
        </p:nvSpPr>
        <p:spPr>
          <a:xfrm>
            <a:off x="5897880" y="4096512"/>
            <a:ext cx="804672" cy="0"/>
          </a:xfrm>
          <a:prstGeom prst="line">
            <a:avLst/>
          </a:prstGeom>
          <a:noFill/>
          <a:ln w="19050">
            <a:solidFill>
              <a:srgbClr val="8B5E3C"/>
            </a:solidFill>
            <a:prstDash val="solid"/>
            <a:tailEnd type="triangle"/>
          </a:ln>
        </p:spPr>
      </p:sp>
      <p:sp>
        <p:nvSpPr>
          <p:cNvPr id="10" name="Text 7"/>
          <p:cNvSpPr/>
          <p:nvPr/>
        </p:nvSpPr>
        <p:spPr>
          <a:xfrm>
            <a:off x="7004304" y="3054096"/>
            <a:ext cx="4434840" cy="274320"/>
          </a:xfrm>
          <a:prstGeom prst="rect">
            <a:avLst/>
          </a:prstGeom>
          <a:noFill/>
          <a:ln/>
        </p:spPr>
        <p:txBody>
          <a:bodyPr wrap="square" lIns="0" tIns="0" rIns="0" bIns="0" rtlCol="0" anchor="ctr"/>
          <a:lstStyle/>
          <a:p>
            <a:pPr indent="0" marL="0">
              <a:buNone/>
            </a:pPr>
            <a:r>
              <a:rPr lang="en-US" sz="1200" b="1" dirty="0">
                <a:solidFill>
                  <a:srgbClr val="8B5E3C"/>
                </a:solidFill>
              </a:rPr>
              <a:t>AI ADVANCES THE WORK</a:t>
            </a:r>
            <a:endParaRPr lang="en-US" sz="1200" dirty="0"/>
          </a:p>
        </p:txBody>
      </p:sp>
      <p:sp>
        <p:nvSpPr>
          <p:cNvPr id="11" name="Text 8"/>
          <p:cNvSpPr/>
          <p:nvPr/>
        </p:nvSpPr>
        <p:spPr>
          <a:xfrm>
            <a:off x="7004304" y="3639312"/>
            <a:ext cx="4434840" cy="1371600"/>
          </a:xfrm>
          <a:prstGeom prst="rect">
            <a:avLst/>
          </a:prstGeom>
          <a:noFill/>
          <a:ln/>
        </p:spPr>
        <p:txBody>
          <a:bodyPr wrap="square" lIns="0" tIns="0" rIns="0" bIns="0" rtlCol="0" anchor="t"/>
          <a:lstStyle/>
          <a:p>
            <a:pPr indent="0" marL="0">
              <a:buNone/>
            </a:pPr>
            <a:r>
              <a:rPr lang="en-US" sz="2200" dirty="0">
                <a:solidFill>
                  <a:srgbClr val="686761"/>
                </a:solidFill>
              </a:rPr>
              <a:t>Investigate and make changes.</a:t>
            </a:r>
            <a:endParaRPr lang="en-US" sz="2200" dirty="0"/>
          </a:p>
          <a:p>
            <a:pPr indent="0" marL="0">
              <a:buNone/>
            </a:pPr>
            <a:r>
              <a:rPr lang="en-US" sz="2200" dirty="0">
                <a:solidFill>
                  <a:srgbClr val="686761"/>
                </a:solidFill>
              </a:rPr>
              <a:t>Run tools and checks.</a:t>
            </a:r>
            <a:endParaRPr lang="en-US" sz="2200" dirty="0"/>
          </a:p>
          <a:p>
            <a:pPr indent="0" marL="0">
              <a:buNone/>
            </a:pPr>
            <a:r>
              <a:rPr lang="en-US" sz="2200" dirty="0">
                <a:solidFill>
                  <a:srgbClr val="686761"/>
                </a:solidFill>
              </a:rPr>
              <a:t>Record results and open risks.</a:t>
            </a:r>
            <a:endParaRPr lang="en-US" sz="2200" dirty="0"/>
          </a:p>
        </p:txBody>
      </p:sp>
      <p:sp>
        <p:nvSpPr>
          <p:cNvPr id="12" name="Text 9"/>
          <p:cNvSpPr/>
          <p:nvPr/>
        </p:nvSpPr>
        <p:spPr>
          <a:xfrm>
            <a:off x="713232" y="5870448"/>
            <a:ext cx="10789920" cy="347472"/>
          </a:xfrm>
          <a:prstGeom prst="rect">
            <a:avLst/>
          </a:prstGeom>
          <a:noFill/>
          <a:ln/>
        </p:spPr>
        <p:txBody>
          <a:bodyPr wrap="square" lIns="0" tIns="0" rIns="0" bIns="0" rtlCol="0" anchor="ctr"/>
          <a:lstStyle/>
          <a:p>
            <a:pPr indent="0" marL="0">
              <a:buNone/>
            </a:pPr>
            <a:r>
              <a:rPr lang="en-US" sz="1900" dirty="0">
                <a:solidFill>
                  <a:srgbClr val="8B5E3C"/>
                </a:solidFill>
              </a:rPr>
              <a:t>Bound the task with constraints and acceptance criteria.</a:t>
            </a:r>
            <a:endParaRPr lang="en-US" sz="1900" dirty="0"/>
          </a:p>
        </p:txBody>
      </p:sp>
      <p:sp>
        <p:nvSpPr>
          <p:cNvPr id="13" name="Text 10"/>
          <p:cNvSpPr/>
          <p:nvPr/>
        </p:nvSpPr>
        <p:spPr>
          <a:xfrm>
            <a:off x="640080" y="6419088"/>
            <a:ext cx="10149840" cy="256032"/>
          </a:xfrm>
          <a:prstGeom prst="rect">
            <a:avLst/>
          </a:prstGeom>
          <a:noFill/>
          <a:ln/>
        </p:spPr>
        <p:txBody>
          <a:bodyPr wrap="square" lIns="0" tIns="0" rIns="0" bIns="0" rtlCol="0" anchor="ctr"/>
          <a:lstStyle/>
          <a:p>
            <a:pPr indent="0" marL="0">
              <a:buNone/>
            </a:pPr>
            <a:r>
              <a:rPr lang="en-US" sz="900" dirty="0">
                <a:solidFill>
                  <a:srgbClr val="686761"/>
                </a:solidFill>
              </a:rPr>
              <a:t>Illustrative scenario—not a completed case study · Execution depends on configured tools and permissions.</a:t>
            </a:r>
            <a:endParaRPr lang="en-US" sz="9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777240"/>
            <a:ext cx="10881360" cy="246888"/>
          </a:xfrm>
          <a:prstGeom prst="rect">
            <a:avLst/>
          </a:prstGeom>
          <a:noFill/>
          <a:ln/>
        </p:spPr>
        <p:txBody>
          <a:bodyPr wrap="square" lIns="0" tIns="0" rIns="0" bIns="0" rtlCol="0" anchor="ctr"/>
          <a:lstStyle/>
          <a:p>
            <a:pPr indent="0" marL="0">
              <a:buNone/>
            </a:pPr>
            <a:r>
              <a:rPr lang="en-US" sz="1100" b="1" spc="110" kern="0" dirty="0">
                <a:solidFill>
                  <a:srgbClr val="8B5E3C"/>
                </a:solidFill>
              </a:rPr>
              <a:t>WORK CENTER · PREVIEW</a:t>
            </a:r>
            <a:endParaRPr lang="en-US" sz="1100" dirty="0"/>
          </a:p>
        </p:txBody>
      </p:sp>
      <p:sp>
        <p:nvSpPr>
          <p:cNvPr id="4" name="Text 1"/>
          <p:cNvSpPr/>
          <p:nvPr/>
        </p:nvSpPr>
        <p:spPr>
          <a:xfrm>
            <a:off x="640080" y="1143000"/>
            <a:ext cx="10881360" cy="749808"/>
          </a:xfrm>
          <a:prstGeom prst="rect">
            <a:avLst/>
          </a:prstGeom>
          <a:noFill/>
          <a:ln/>
        </p:spPr>
        <p:txBody>
          <a:bodyPr wrap="square" lIns="0" tIns="0" rIns="0" bIns="0" rtlCol="0" anchor="ctr"/>
          <a:lstStyle/>
          <a:p>
            <a:pPr indent="0" marL="0">
              <a:buNone/>
            </a:pPr>
            <a:r>
              <a:rPr lang="en-US" sz="3000" b="1" dirty="0">
                <a:solidFill>
                  <a:srgbClr val="1D1D1B"/>
                </a:solidFill>
              </a:rPr>
              <a:t>Keep the task moving. Keep control.</a:t>
            </a:r>
            <a:endParaRPr lang="en-US" sz="3000" dirty="0"/>
          </a:p>
        </p:txBody>
      </p:sp>
      <p:sp>
        <p:nvSpPr>
          <p:cNvPr id="5" name="Text 2"/>
          <p:cNvSpPr/>
          <p:nvPr/>
        </p:nvSpPr>
        <p:spPr>
          <a:xfrm>
            <a:off x="667512" y="1938528"/>
            <a:ext cx="10789920" cy="502920"/>
          </a:xfrm>
          <a:prstGeom prst="rect">
            <a:avLst/>
          </a:prstGeom>
          <a:noFill/>
          <a:ln/>
        </p:spPr>
        <p:txBody>
          <a:bodyPr wrap="square" lIns="0" tIns="0" rIns="0" bIns="0" rtlCol="0" anchor="t"/>
          <a:lstStyle/>
          <a:p>
            <a:pPr indent="0" marL="0">
              <a:buNone/>
            </a:pPr>
            <a:r>
              <a:rPr lang="en-US" sz="1500" dirty="0">
                <a:solidFill>
                  <a:srgbClr val="686761"/>
                </a:solidFill>
              </a:rPr>
              <a:t>A persistent goal, visible execution, and an outcome you can evaluate.</a:t>
            </a:r>
            <a:endParaRPr lang="en-US" sz="1500" dirty="0"/>
          </a:p>
        </p:txBody>
      </p:sp>
      <p:pic>
        <p:nvPicPr>
          <p:cNvPr id="6" name="Image 0" descr="/home/azureuser/projects/yeaft-web-code-agent/.yeaft/worktrees/showcase-work-anywhere/artifacts/showcase/work-anywhere-assets/09-work-center-structure.png">    </p:cNvPr>
          <p:cNvPicPr>
            <a:picLocks noChangeAspect="1"/>
          </p:cNvPicPr>
          <p:nvPr/>
        </p:nvPicPr>
        <p:blipFill>
          <a:blip r:embed="rId1"/>
          <a:stretch>
            <a:fillRect/>
          </a:stretch>
        </p:blipFill>
        <p:spPr>
          <a:xfrm>
            <a:off x="1945889" y="2743200"/>
            <a:ext cx="4420118" cy="3374136"/>
          </a:xfrm>
          <a:prstGeom prst="rect">
            <a:avLst/>
          </a:prstGeom>
        </p:spPr>
      </p:pic>
      <p:sp>
        <p:nvSpPr>
          <p:cNvPr id="7" name="Text 3"/>
          <p:cNvSpPr/>
          <p:nvPr/>
        </p:nvSpPr>
        <p:spPr>
          <a:xfrm>
            <a:off x="8092440" y="2816352"/>
            <a:ext cx="3383280" cy="283464"/>
          </a:xfrm>
          <a:prstGeom prst="rect">
            <a:avLst/>
          </a:prstGeom>
          <a:noFill/>
          <a:ln/>
        </p:spPr>
        <p:txBody>
          <a:bodyPr wrap="square" lIns="0" tIns="0" rIns="0" bIns="0" rtlCol="0" anchor="ctr"/>
          <a:lstStyle/>
          <a:p>
            <a:pPr indent="0" marL="0">
              <a:buNone/>
            </a:pPr>
            <a:r>
              <a:rPr lang="en-US" sz="1200" b="1" dirty="0">
                <a:solidFill>
                  <a:srgbClr val="8B5E3C"/>
                </a:solidFill>
              </a:rPr>
              <a:t>KEEP THE GOAL</a:t>
            </a:r>
            <a:endParaRPr lang="en-US" sz="1200" dirty="0"/>
          </a:p>
        </p:txBody>
      </p:sp>
      <p:sp>
        <p:nvSpPr>
          <p:cNvPr id="8" name="Text 4"/>
          <p:cNvSpPr/>
          <p:nvPr/>
        </p:nvSpPr>
        <p:spPr>
          <a:xfrm>
            <a:off x="8092440" y="3255264"/>
            <a:ext cx="3383280" cy="630936"/>
          </a:xfrm>
          <a:prstGeom prst="rect">
            <a:avLst/>
          </a:prstGeom>
          <a:noFill/>
          <a:ln/>
        </p:spPr>
        <p:txBody>
          <a:bodyPr wrap="square" lIns="0" tIns="0" rIns="0" bIns="0" rtlCol="0" anchor="t"/>
          <a:lstStyle/>
          <a:p>
            <a:pPr indent="0" marL="0">
              <a:buNone/>
            </a:pPr>
            <a:r>
              <a:rPr lang="en-US" sz="1800" dirty="0">
                <a:solidFill>
                  <a:srgbClr val="686761"/>
                </a:solidFill>
              </a:rPr>
              <a:t>Save the objective and acceptance criteria.</a:t>
            </a:r>
            <a:endParaRPr lang="en-US" sz="1800" dirty="0"/>
          </a:p>
        </p:txBody>
      </p:sp>
      <p:sp>
        <p:nvSpPr>
          <p:cNvPr id="9" name="Text 5"/>
          <p:cNvSpPr/>
          <p:nvPr/>
        </p:nvSpPr>
        <p:spPr>
          <a:xfrm>
            <a:off x="8092440" y="3886200"/>
            <a:ext cx="3383280" cy="283464"/>
          </a:xfrm>
          <a:prstGeom prst="rect">
            <a:avLst/>
          </a:prstGeom>
          <a:noFill/>
          <a:ln/>
        </p:spPr>
        <p:txBody>
          <a:bodyPr wrap="square" lIns="0" tIns="0" rIns="0" bIns="0" rtlCol="0" anchor="ctr"/>
          <a:lstStyle/>
          <a:p>
            <a:pPr indent="0" marL="0">
              <a:buNone/>
            </a:pPr>
            <a:r>
              <a:rPr lang="en-US" sz="1200" b="1" dirty="0">
                <a:solidFill>
                  <a:srgbClr val="8B5E3C"/>
                </a:solidFill>
              </a:rPr>
              <a:t>FOLLOW PROGRESS</a:t>
            </a:r>
            <a:endParaRPr lang="en-US" sz="1200" dirty="0"/>
          </a:p>
        </p:txBody>
      </p:sp>
      <p:sp>
        <p:nvSpPr>
          <p:cNvPr id="10" name="Text 6"/>
          <p:cNvSpPr/>
          <p:nvPr/>
        </p:nvSpPr>
        <p:spPr>
          <a:xfrm>
            <a:off x="8092440" y="4325112"/>
            <a:ext cx="3383280" cy="630936"/>
          </a:xfrm>
          <a:prstGeom prst="rect">
            <a:avLst/>
          </a:prstGeom>
          <a:noFill/>
          <a:ln/>
        </p:spPr>
        <p:txBody>
          <a:bodyPr wrap="square" lIns="0" tIns="0" rIns="0" bIns="0" rtlCol="0" anchor="t"/>
          <a:lstStyle/>
          <a:p>
            <a:pPr indent="0" marL="0">
              <a:buNone/>
            </a:pPr>
            <a:r>
              <a:rPr lang="en-US" sz="1800" dirty="0">
                <a:solidFill>
                  <a:srgbClr val="686761"/>
                </a:solidFill>
              </a:rPr>
              <a:t>See execution status. Resolve decisions.</a:t>
            </a:r>
            <a:endParaRPr lang="en-US" sz="1800" dirty="0"/>
          </a:p>
        </p:txBody>
      </p:sp>
      <p:sp>
        <p:nvSpPr>
          <p:cNvPr id="11" name="Text 7"/>
          <p:cNvSpPr/>
          <p:nvPr/>
        </p:nvSpPr>
        <p:spPr>
          <a:xfrm>
            <a:off x="8092440" y="4956048"/>
            <a:ext cx="3383280" cy="283464"/>
          </a:xfrm>
          <a:prstGeom prst="rect">
            <a:avLst/>
          </a:prstGeom>
          <a:noFill/>
          <a:ln/>
        </p:spPr>
        <p:txBody>
          <a:bodyPr wrap="square" lIns="0" tIns="0" rIns="0" bIns="0" rtlCol="0" anchor="ctr"/>
          <a:lstStyle/>
          <a:p>
            <a:pPr indent="0" marL="0">
              <a:buNone/>
            </a:pPr>
            <a:r>
              <a:rPr lang="en-US" sz="1200" b="1" dirty="0">
                <a:solidFill>
                  <a:srgbClr val="8B5E3C"/>
                </a:solidFill>
              </a:rPr>
              <a:t>CHECK THE OUTCOME</a:t>
            </a:r>
            <a:endParaRPr lang="en-US" sz="1200" dirty="0"/>
          </a:p>
        </p:txBody>
      </p:sp>
      <p:sp>
        <p:nvSpPr>
          <p:cNvPr id="12" name="Text 8"/>
          <p:cNvSpPr/>
          <p:nvPr/>
        </p:nvSpPr>
        <p:spPr>
          <a:xfrm>
            <a:off x="8092440" y="5394960"/>
            <a:ext cx="3383280" cy="630936"/>
          </a:xfrm>
          <a:prstGeom prst="rect">
            <a:avLst/>
          </a:prstGeom>
          <a:noFill/>
          <a:ln/>
        </p:spPr>
        <p:txBody>
          <a:bodyPr wrap="square" lIns="0" tIns="0" rIns="0" bIns="0" rtlCol="0" anchor="t"/>
          <a:lstStyle/>
          <a:p>
            <a:pPr indent="0" marL="0">
              <a:buNone/>
            </a:pPr>
            <a:r>
              <a:rPr lang="en-US" sz="1800" dirty="0">
                <a:solidFill>
                  <a:srgbClr val="686761"/>
                </a:solidFill>
              </a:rPr>
              <a:t>Inspect evidence against the goal.</a:t>
            </a:r>
            <a:endParaRPr lang="en-US" sz="1800" dirty="0"/>
          </a:p>
        </p:txBody>
      </p:sp>
      <p:sp>
        <p:nvSpPr>
          <p:cNvPr id="13" name="Text 9"/>
          <p:cNvSpPr/>
          <p:nvPr/>
        </p:nvSpPr>
        <p:spPr>
          <a:xfrm>
            <a:off x="640080" y="6419088"/>
            <a:ext cx="10149840" cy="256032"/>
          </a:xfrm>
          <a:prstGeom prst="rect">
            <a:avLst/>
          </a:prstGeom>
          <a:noFill/>
          <a:ln/>
        </p:spPr>
        <p:txBody>
          <a:bodyPr wrap="square" lIns="0" tIns="0" rIns="0" bIns="0" rtlCol="0" anchor="ctr"/>
          <a:lstStyle/>
          <a:p>
            <a:pPr indent="0" marL="0">
              <a:buNone/>
            </a:pPr>
            <a:r>
              <a:rPr lang="en-US" sz="900" dirty="0">
                <a:solidFill>
                  <a:srgbClr val="686761"/>
                </a:solidFill>
              </a:rPr>
              <a:t>Real UI · Staged inspection demo · Execution requires an online Agent. Work Center is separate from Session.</a:t>
            </a:r>
            <a:endParaRPr lang="en-US" sz="9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685800" y="1097280"/>
            <a:ext cx="10789920" cy="274320"/>
          </a:xfrm>
          <a:prstGeom prst="rect">
            <a:avLst/>
          </a:prstGeom>
          <a:noFill/>
          <a:ln/>
        </p:spPr>
        <p:txBody>
          <a:bodyPr wrap="square" lIns="0" tIns="0" rIns="0" bIns="0" rtlCol="0" anchor="ctr"/>
          <a:lstStyle/>
          <a:p>
            <a:pPr indent="0" marL="0">
              <a:buNone/>
            </a:pPr>
            <a:r>
              <a:rPr lang="en-US" sz="1300" b="1" spc="130" kern="0" dirty="0">
                <a:solidFill>
                  <a:srgbClr val="8B5E3C"/>
                </a:solidFill>
              </a:rPr>
              <a:t>WORK FROM ANYWHERE.</a:t>
            </a:r>
            <a:endParaRPr lang="en-US" sz="1300" dirty="0"/>
          </a:p>
        </p:txBody>
      </p:sp>
      <p:sp>
        <p:nvSpPr>
          <p:cNvPr id="4" name="Text 1"/>
          <p:cNvSpPr/>
          <p:nvPr/>
        </p:nvSpPr>
        <p:spPr>
          <a:xfrm>
            <a:off x="658368" y="1856232"/>
            <a:ext cx="10835640" cy="2441448"/>
          </a:xfrm>
          <a:prstGeom prst="rect">
            <a:avLst/>
          </a:prstGeom>
          <a:noFill/>
          <a:ln/>
        </p:spPr>
        <p:txBody>
          <a:bodyPr wrap="square" lIns="0" tIns="0" rIns="0" bIns="0" rtlCol="0" anchor="ctr"/>
          <a:lstStyle/>
          <a:p>
            <a:pPr indent="0" marL="0">
              <a:buNone/>
            </a:pPr>
            <a:r>
              <a:rPr lang="en-US" sz="4400" b="1" dirty="0">
                <a:solidFill>
                  <a:srgbClr val="1D1D1B"/>
                </a:solidFill>
              </a:rPr>
              <a:t>Your AI team.</a:t>
            </a:r>
            <a:endParaRPr lang="en-US" sz="4400" dirty="0"/>
          </a:p>
          <a:p>
            <a:pPr indent="0" marL="0">
              <a:buNone/>
            </a:pPr>
            <a:r>
              <a:rPr lang="en-US" sz="4400" b="1" dirty="0">
                <a:solidFill>
                  <a:srgbClr val="1D1D1B"/>
                </a:solidFill>
              </a:rPr>
              <a:t>Real work.</a:t>
            </a:r>
            <a:endParaRPr lang="en-US" sz="4400" dirty="0"/>
          </a:p>
          <a:p>
            <a:pPr indent="0" marL="0">
              <a:buNone/>
            </a:pPr>
            <a:r>
              <a:rPr lang="en-US" sz="4400" b="1" dirty="0">
                <a:solidFill>
                  <a:srgbClr val="1D1D1B"/>
                </a:solidFill>
              </a:rPr>
              <a:t>From anywhere.</a:t>
            </a:r>
            <a:endParaRPr lang="en-US" sz="4400" dirty="0"/>
          </a:p>
        </p:txBody>
      </p:sp>
      <p:sp>
        <p:nvSpPr>
          <p:cNvPr id="5" name="Text 2"/>
          <p:cNvSpPr/>
          <p:nvPr/>
        </p:nvSpPr>
        <p:spPr>
          <a:xfrm>
            <a:off x="713232" y="4919472"/>
            <a:ext cx="10698480" cy="594360"/>
          </a:xfrm>
          <a:prstGeom prst="rect">
            <a:avLst/>
          </a:prstGeom>
          <a:noFill/>
          <a:ln/>
        </p:spPr>
        <p:txBody>
          <a:bodyPr wrap="square" lIns="0" tIns="0" rIns="0" bIns="0" rtlCol="0" anchor="t"/>
          <a:lstStyle/>
          <a:p>
            <a:pPr indent="0" marL="0">
              <a:buNone/>
            </a:pPr>
            <a:r>
              <a:rPr lang="en-US" sz="2300" dirty="0">
                <a:solidFill>
                  <a:srgbClr val="686761"/>
                </a:solidFill>
              </a:rPr>
              <a:t>Connect. Collaborate. Let the work move forward.</a:t>
            </a:r>
            <a:endParaRPr lang="en-US" sz="2300" dirty="0"/>
          </a:p>
        </p:txBody>
      </p:sp>
      <p:sp>
        <p:nvSpPr>
          <p:cNvPr id="6" name="Text 3">
            <a:hlinkClick r:id="rId1" tooltip=""/>
          </p:cNvPr>
          <p:cNvSpPr/>
          <p:nvPr/>
        </p:nvSpPr>
        <p:spPr>
          <a:xfrm>
            <a:off x="713232" y="5833872"/>
            <a:ext cx="10698480" cy="429768"/>
          </a:xfrm>
          <a:prstGeom prst="rect">
            <a:avLst/>
          </a:prstGeom>
          <a:noFill/>
          <a:ln/>
        </p:spPr>
        <p:txBody>
          <a:bodyPr wrap="square" lIns="0" tIns="0" rIns="0" bIns="0" rtlCol="0" anchor="ctr"/>
          <a:lstStyle/>
          <a:p>
            <a:pPr indent="0" marL="0">
              <a:buNone/>
            </a:pPr>
            <a:r>
              <a:rPr lang="en-US" sz="2200" b="1" u="sng" dirty="0">
                <a:solidFill>
                  <a:srgbClr val="8B5E3C"/>
                </a:solidFill>
                <a:hlinkClick r:id="rId1" invalidUrl="" action="" tgtFrame="" tooltip="" history="1" highlightClick="0" endSnd="0">
                  <a:extLst>
                    <a:ext uri="{A12FA001-AC4F-418D-AE19-62706E023703}">
                      <ahyp:hlinkClr xmlns:ahyp="http://schemas.microsoft.com/office/drawing/2018/hyperlinkcolor" val="tx"/>
                    </a:ext>
                  </a:extLst>
                </a:hlinkClick>
              </a:rPr>
              <a:t>github.com/yeaft/yeaft-web-code-agent</a:t>
            </a:r>
            <a:endParaRPr lang="en-US" sz="2200" dirty="0"/>
          </a:p>
        </p:txBody>
      </p:sp>
      <p:sp>
        <p:nvSpPr>
          <p:cNvPr id="25" name="Slide Number Placeholder 0"/>
          <p:cNvSpPr>
            <a:spLocks noGrp="1"/>
          </p:cNvSpPr>
          <p:nvPr>
            <p:ph type="sldNum" sz="quarter" idx="4294967295"/>
          </p:nvPr>
        </p:nvSpPr>
        <p:spPr>
          <a:xfrm>
            <a:off x="10972800" y="6473952"/>
            <a:ext cx="548640" cy="18288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86761"/>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eratio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eratio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Yeaft — Work from anywhere.</dc:title>
  <dc:subject>Cross-device work, role handoffs, Workbench and development automation</dc:subject>
  <dc:creator>Yeaft</dc:creator>
  <cp:lastModifiedBy>Yeaft</cp:lastModifiedBy>
  <cp:revision>1</cp:revision>
  <dcterms:created xsi:type="dcterms:W3CDTF">2026-09-07T05:43:38Z</dcterms:created>
  <dcterms:modified xsi:type="dcterms:W3CDTF">2026-09-07T05:43:38Z</dcterms:modified>
</cp:coreProperties>
</file>